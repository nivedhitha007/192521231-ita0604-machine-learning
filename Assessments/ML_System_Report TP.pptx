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300" b="0" i="0" u="none" strike="noStrike" kern="1200" baseline="0">
                <a:solidFill>
                  <a:srgbClr val="1B2B34"/>
                </a:solidFill>
                <a:latin typeface="Calibri" panose="020F0502020204030204"/>
                <a:ea typeface="+mn-ea"/>
                <a:cs typeface="+mn-cs"/>
              </a:defRPr>
            </a:pPr>
            <a:r>
              <a:rPr sz="1300" b="0" i="0" u="none" strike="noStrike">
                <a:solidFill>
                  <a:srgbClr val="1B2B34"/>
                </a:solidFill>
                <a:latin typeface="Calibri" panose="020F0502020204030204"/>
              </a:rPr>
              <a:t>Proposed System vs. Baseline (illustrative)</a:t>
            </a:r>
            <a:endParaRPr sz="1300" b="0" i="0" u="none" strike="noStrike">
              <a:solidFill>
                <a:srgbClr val="1B2B34"/>
              </a:solidFill>
              <a:latin typeface="Calibri" panose="020F050202020403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5A6B7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1B2B34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78</c:v>
                </c:pt>
                <c:pt idx="1">
                  <c:v>75</c:v>
                </c:pt>
                <c:pt idx="2">
                  <c:v>74</c:v>
                </c:pt>
                <c:pt idx="3">
                  <c:v>74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Proposed System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1B2B34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93</c:v>
                </c:pt>
                <c:pt idx="1">
                  <c:v>91</c:v>
                </c:pt>
                <c:pt idx="2">
                  <c:v>90</c:v>
                </c:pt>
                <c:pt idx="3">
                  <c:v>90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5A6B72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 cmpd="sng" algn="ctr">
              <a:solidFill>
                <a:srgbClr val="E3E9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5A6B72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5adf1546-0915-433e-854b-cf045406794c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44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028090">
              <a:alpha val="4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10789920" y="4389120"/>
            <a:ext cx="2926080" cy="2926080"/>
          </a:xfrm>
          <a:prstGeom prst="ellipse">
            <a:avLst/>
          </a:prstGeom>
          <a:solidFill>
            <a:srgbClr val="00A896">
              <a:alpha val="45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731520" y="214884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MACHINE LEARNING SYSTEM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960120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Development, Evaluation &amp;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Future Scope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4343400"/>
            <a:ext cx="80467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8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structured overview of the implementation pipeline, performance analysis, and research potential of the proposed model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6035040"/>
            <a:ext cx="91440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8" name="Text Box 7"/>
          <p:cNvSpPr txBox="1"/>
          <p:nvPr/>
        </p:nvSpPr>
        <p:spPr>
          <a:xfrm>
            <a:off x="8778240" y="537210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bg1"/>
                </a:solidFill>
              </a:rPr>
              <a:t>PRESENTED BY,</a:t>
            </a:r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NIVEDHITHA G(192521231)</a:t>
            </a:r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9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3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Implementation Pipeline: Data Preprocessing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789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Preparing raw data to maximize model efficiency and learning quality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2F7F7"/>
          </a:solidFill>
          <a:effectLst>
            <a:outerShdw blurRad="76200" dist="25400" dir="5400000" algn="bl" rotWithShape="0">
              <a:srgbClr val="1B2B34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423160"/>
            <a:ext cx="502920" cy="50292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7" name="Text 5"/>
          <p:cNvSpPr/>
          <p:nvPr/>
        </p:nvSpPr>
        <p:spPr>
          <a:xfrm>
            <a:off x="868680" y="242316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108960"/>
            <a:ext cx="2148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3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Cleaning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566160"/>
            <a:ext cx="214884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Removing noise, duplicates, and inconsistent entries from the raw dataset before modeling.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502152" y="21488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2F7F7"/>
          </a:solidFill>
          <a:effectLst>
            <a:outerShdw blurRad="76200" dist="25400" dir="5400000" algn="bl" rotWithShape="0">
              <a:srgbClr val="1B2B34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30752" y="2423160"/>
            <a:ext cx="502920" cy="50292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2" name="Text 10"/>
          <p:cNvSpPr/>
          <p:nvPr/>
        </p:nvSpPr>
        <p:spPr>
          <a:xfrm>
            <a:off x="3730752" y="242316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30752" y="3108960"/>
            <a:ext cx="2148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3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Missing Value Handling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30752" y="3566160"/>
            <a:ext cx="214884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Applying imputation or targeted removal so incomplete records don't bias the model.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64224" y="21488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2F7F7"/>
          </a:solidFill>
          <a:effectLst>
            <a:outerShdw blurRad="76200" dist="25400" dir="5400000" algn="bl" rotWithShape="0">
              <a:srgbClr val="1B2B34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92824" y="2423160"/>
            <a:ext cx="502920" cy="50292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7" name="Text 15"/>
          <p:cNvSpPr/>
          <p:nvPr/>
        </p:nvSpPr>
        <p:spPr>
          <a:xfrm>
            <a:off x="6592824" y="242316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92824" y="3108960"/>
            <a:ext cx="2148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3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Normalization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92824" y="3566160"/>
            <a:ext cx="214884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Scaling feature values to a common range to stabilize and speed up learning.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226296" y="21488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2F7F7"/>
          </a:solidFill>
          <a:effectLst>
            <a:outerShdw blurRad="76200" dist="25400" dir="5400000" algn="bl" rotWithShape="0">
              <a:srgbClr val="1B2B34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454896" y="2423160"/>
            <a:ext cx="502920" cy="50292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22" name="Text 20"/>
          <p:cNvSpPr/>
          <p:nvPr/>
        </p:nvSpPr>
        <p:spPr>
          <a:xfrm>
            <a:off x="9454896" y="242316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454896" y="3108960"/>
            <a:ext cx="21488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3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Feature Selection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454896" y="3566160"/>
            <a:ext cx="214884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Retaining only the most informative variables to reduce redundancy and overhead.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9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3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Post-Processing &amp; Evaluation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789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Refining outputs and validating robustness before deployment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212080" cy="3566160"/>
          </a:xfrm>
          <a:prstGeom prst="roundRect">
            <a:avLst>
              <a:gd name="adj" fmla="val 2051"/>
            </a:avLst>
          </a:prstGeom>
          <a:solidFill>
            <a:srgbClr val="05445E"/>
          </a:solidFill>
        </p:spPr>
      </p:sp>
      <p:sp>
        <p:nvSpPr>
          <p:cNvPr id="6" name="Text 4"/>
          <p:cNvSpPr/>
          <p:nvPr/>
        </p:nvSpPr>
        <p:spPr>
          <a:xfrm>
            <a:off x="960120" y="237744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POST-PROCESSING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60120" y="2935224"/>
            <a:ext cx="109728" cy="109728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8" name="Text 6"/>
          <p:cNvSpPr/>
          <p:nvPr/>
        </p:nvSpPr>
        <p:spPr>
          <a:xfrm>
            <a:off x="1234440" y="2807208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Result Refinement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3136392"/>
            <a:ext cx="4480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FE8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Filtering out low-confidence predictions to improve output quality.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60120" y="3831336"/>
            <a:ext cx="109728" cy="109728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11" name="Text 9"/>
          <p:cNvSpPr/>
          <p:nvPr/>
        </p:nvSpPr>
        <p:spPr>
          <a:xfrm>
            <a:off x="1234440" y="3703320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Threshold Tuning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4032504"/>
            <a:ext cx="4480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FE8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Optimizing the decision boundary for classification outcomes.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60120" y="4727448"/>
            <a:ext cx="109728" cy="109728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14" name="Text 12"/>
          <p:cNvSpPr/>
          <p:nvPr/>
        </p:nvSpPr>
        <p:spPr>
          <a:xfrm>
            <a:off x="1234440" y="4599432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Visualization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4928616"/>
            <a:ext cx="4480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FE8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Presenting outputs in interpretable form for end users.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80760" y="2103120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F2F7F7"/>
          </a:solidFill>
        </p:spPr>
      </p:sp>
      <p:sp>
        <p:nvSpPr>
          <p:cNvPr id="17" name="Text 15"/>
          <p:cNvSpPr/>
          <p:nvPr/>
        </p:nvSpPr>
        <p:spPr>
          <a:xfrm>
            <a:off x="6400800" y="2377440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EVALUATION &amp; VALIDATION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0" y="2880360"/>
            <a:ext cx="1170432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880360"/>
            <a:ext cx="1170432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B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08392" y="2880360"/>
            <a:ext cx="1170432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08392" y="2880360"/>
            <a:ext cx="1170432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B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015984" y="2880360"/>
            <a:ext cx="1170432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15984" y="2880360"/>
            <a:ext cx="1170432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B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Recall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323576" y="2880360"/>
            <a:ext cx="1170432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23576" y="2880360"/>
            <a:ext cx="1170432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B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F1-Score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3977640"/>
            <a:ext cx="484632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Cross-validation is applied to confirm the model generalizes to unseen data rather than overfitting to the training set, ensuring robust and reproducible performance.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9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3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Performance Analysis &amp; System Merit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789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Demonstrating effectiveness through quantitative and comparative analysis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40080" y="2148840"/>
          <a:ext cx="603504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903720" y="2148840"/>
            <a:ext cx="4617720" cy="749808"/>
          </a:xfrm>
          <a:prstGeom prst="roundRect">
            <a:avLst>
              <a:gd name="adj" fmla="val 7317"/>
            </a:avLst>
          </a:prstGeom>
          <a:solidFill>
            <a:srgbClr val="F2F7F7"/>
          </a:solidFill>
        </p:spPr>
      </p:sp>
      <p:sp>
        <p:nvSpPr>
          <p:cNvPr id="7" name="Shape 4"/>
          <p:cNvSpPr/>
          <p:nvPr/>
        </p:nvSpPr>
        <p:spPr>
          <a:xfrm>
            <a:off x="7086600" y="2350008"/>
            <a:ext cx="109728" cy="109728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8" name="Text 5"/>
          <p:cNvSpPr/>
          <p:nvPr/>
        </p:nvSpPr>
        <p:spPr>
          <a:xfrm>
            <a:off x="7315200" y="2194560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3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High Accuracy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0" y="2468880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Consistently outperforms baseline models across evaluation metrics.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903720" y="3017520"/>
            <a:ext cx="4617720" cy="749808"/>
          </a:xfrm>
          <a:prstGeom prst="roundRect">
            <a:avLst>
              <a:gd name="adj" fmla="val 7317"/>
            </a:avLst>
          </a:prstGeom>
          <a:solidFill>
            <a:srgbClr val="F2F7F7"/>
          </a:solidFill>
        </p:spPr>
      </p:sp>
      <p:sp>
        <p:nvSpPr>
          <p:cNvPr id="11" name="Shape 8"/>
          <p:cNvSpPr/>
          <p:nvPr/>
        </p:nvSpPr>
        <p:spPr>
          <a:xfrm>
            <a:off x="7086600" y="3218688"/>
            <a:ext cx="109728" cy="109728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12" name="Text 9"/>
          <p:cNvSpPr/>
          <p:nvPr/>
        </p:nvSpPr>
        <p:spPr>
          <a:xfrm>
            <a:off x="7315200" y="3063240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3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Improved Sensitivity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15200" y="3337560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Better detection of true positives, reducing missed cases.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903720" y="3886200"/>
            <a:ext cx="4617720" cy="749808"/>
          </a:xfrm>
          <a:prstGeom prst="roundRect">
            <a:avLst>
              <a:gd name="adj" fmla="val 7317"/>
            </a:avLst>
          </a:prstGeom>
          <a:solidFill>
            <a:srgbClr val="F2F7F7"/>
          </a:solidFill>
        </p:spPr>
      </p:sp>
      <p:sp>
        <p:nvSpPr>
          <p:cNvPr id="15" name="Shape 12"/>
          <p:cNvSpPr/>
          <p:nvPr/>
        </p:nvSpPr>
        <p:spPr>
          <a:xfrm>
            <a:off x="7086600" y="4087368"/>
            <a:ext cx="109728" cy="109728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16" name="Text 13"/>
          <p:cNvSpPr/>
          <p:nvPr/>
        </p:nvSpPr>
        <p:spPr>
          <a:xfrm>
            <a:off x="7315200" y="3931920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3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Reduced Error Rates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315200" y="4206240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Lower misclassification confirmed via confusion matrix analysis.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903720" y="4754880"/>
            <a:ext cx="4617720" cy="749808"/>
          </a:xfrm>
          <a:prstGeom prst="roundRect">
            <a:avLst>
              <a:gd name="adj" fmla="val 7317"/>
            </a:avLst>
          </a:prstGeom>
          <a:solidFill>
            <a:srgbClr val="F2F7F7"/>
          </a:solidFill>
        </p:spPr>
      </p:sp>
      <p:sp>
        <p:nvSpPr>
          <p:cNvPr id="19" name="Shape 16"/>
          <p:cNvSpPr/>
          <p:nvPr/>
        </p:nvSpPr>
        <p:spPr>
          <a:xfrm>
            <a:off x="7086600" y="4956048"/>
            <a:ext cx="109728" cy="109728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20" name="Text 17"/>
          <p:cNvSpPr/>
          <p:nvPr/>
        </p:nvSpPr>
        <p:spPr>
          <a:xfrm>
            <a:off x="7315200" y="4800600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B3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Scalability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315200" y="5074920"/>
            <a:ext cx="4023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Maintains reliability and efficiency as data volume grows.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903720" y="5669280"/>
            <a:ext cx="4617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Supported by confusion matrices, ROC curves, and performance graphs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44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Future Scope &amp; Publication Potential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0A5C77"/>
          </a:solidFill>
        </p:spPr>
      </p:sp>
      <p:sp>
        <p:nvSpPr>
          <p:cNvPr id="5" name="Text 3"/>
          <p:cNvSpPr/>
          <p:nvPr/>
        </p:nvSpPr>
        <p:spPr>
          <a:xfrm>
            <a:off x="822960" y="1874520"/>
            <a:ext cx="22402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Larger Datasets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22402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8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Extend the model to larger, more diverse datasets to test robustness.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502152" y="16916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0A5C77"/>
          </a:solidFill>
        </p:spPr>
      </p:sp>
      <p:sp>
        <p:nvSpPr>
          <p:cNvPr id="8" name="Text 6"/>
          <p:cNvSpPr/>
          <p:nvPr/>
        </p:nvSpPr>
        <p:spPr>
          <a:xfrm>
            <a:off x="3685032" y="1874520"/>
            <a:ext cx="22402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Real-Time Processing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85032" y="2468880"/>
            <a:ext cx="22402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8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Integrate real-time data pipelines for live decision-making.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64224" y="16916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0A5C77"/>
          </a:solidFill>
        </p:spPr>
      </p:sp>
      <p:sp>
        <p:nvSpPr>
          <p:cNvPr id="11" name="Text 9"/>
          <p:cNvSpPr/>
          <p:nvPr/>
        </p:nvSpPr>
        <p:spPr>
          <a:xfrm>
            <a:off x="6547104" y="1874520"/>
            <a:ext cx="22402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Deep Learning &amp; Hybrid Models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47104" y="2468880"/>
            <a:ext cx="22402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8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Apply advanced architectures to push performance further.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226296" y="16916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0A5C77"/>
          </a:solidFill>
        </p:spPr>
      </p:sp>
      <p:sp>
        <p:nvSpPr>
          <p:cNvPr id="14" name="Text 12"/>
          <p:cNvSpPr/>
          <p:nvPr/>
        </p:nvSpPr>
        <p:spPr>
          <a:xfrm>
            <a:off x="9409176" y="1874520"/>
            <a:ext cx="22402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Interpretability &amp; Deployment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409176" y="2468880"/>
            <a:ext cx="22402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8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 explainability and streamline practical deployment.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97764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PATH TO PUBLICATION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43484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</p:spPr>
      </p:sp>
      <p:sp>
        <p:nvSpPr>
          <p:cNvPr id="18" name="Text 16"/>
          <p:cNvSpPr/>
          <p:nvPr/>
        </p:nvSpPr>
        <p:spPr>
          <a:xfrm>
            <a:off x="640080" y="4434840"/>
            <a:ext cx="2514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544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Abstract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172968" y="4434840"/>
            <a:ext cx="283464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474720" y="443484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</p:spPr>
      </p:sp>
      <p:sp>
        <p:nvSpPr>
          <p:cNvPr id="21" name="Text 19"/>
          <p:cNvSpPr/>
          <p:nvPr/>
        </p:nvSpPr>
        <p:spPr>
          <a:xfrm>
            <a:off x="3474720" y="4434840"/>
            <a:ext cx="2514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544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Methodology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007608" y="4434840"/>
            <a:ext cx="283464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09360" y="443484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</p:spPr>
      </p:sp>
      <p:sp>
        <p:nvSpPr>
          <p:cNvPr id="24" name="Text 22"/>
          <p:cNvSpPr/>
          <p:nvPr/>
        </p:nvSpPr>
        <p:spPr>
          <a:xfrm>
            <a:off x="6309360" y="4434840"/>
            <a:ext cx="2514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544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&amp; Discussion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842248" y="4434840"/>
            <a:ext cx="283464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144000" y="443484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</p:spPr>
      </p:sp>
      <p:sp>
        <p:nvSpPr>
          <p:cNvPr id="27" name="Text 25"/>
          <p:cNvSpPr/>
          <p:nvPr/>
        </p:nvSpPr>
        <p:spPr>
          <a:xfrm>
            <a:off x="9144000" y="4434840"/>
            <a:ext cx="2514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544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Citations &amp; Formatting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FE8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Structured per journal or conference guidelines, the work can be positioned as a publishable research contribution.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2346</Words>
  <Application>WPS Presentation</Application>
  <PresentationFormat>On-screen Show (16:9)</PresentationFormat>
  <Paragraphs>142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9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Calibri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Poovitha</cp:lastModifiedBy>
  <cp:revision>2</cp:revision>
  <dcterms:created xsi:type="dcterms:W3CDTF">2026-07-25T02:41:00Z</dcterms:created>
  <dcterms:modified xsi:type="dcterms:W3CDTF">2026-07-25T02:57:20Z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B1A3841F32A445F1855572A4F0315A53_13</vt:lpwstr>
  </property>
  <property fmtid="{D5CDD505-2E9C-101B-9397-08002B2CF9AE}" pid="3" name="KSOProductBuildVer">
    <vt:lpwstr>1033-12.1.0.27458</vt:lpwstr>
  </property>
</Properties>
</file>